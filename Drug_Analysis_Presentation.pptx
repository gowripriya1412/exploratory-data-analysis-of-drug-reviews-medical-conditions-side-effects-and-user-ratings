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71" r:id="rId9"/>
    <p:sldId id="262" r:id="rId10"/>
    <p:sldId id="266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C12C3-DB40-3B86-933F-7423FFC87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D8B25-B38D-30A0-F8BF-B010D4808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C6071-0045-01EF-27BB-2ED467C04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C7264-4AFF-0E29-343E-FC61221A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22629-0452-06DE-2791-552016F5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24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60D01-65C3-AC1C-1655-CAC6F78A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7DEF6-99EF-F5C2-AF4C-94ACDE6BE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FD785-6A09-678A-F462-0F3327C87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BAD21-3B14-3E2E-FD12-8D6B1E063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5E695-2381-9F56-0A5A-DDAC5FF68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17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E802-857E-3848-F2F2-5EF195DFA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3C7B6-C771-42D4-87FE-9F0D1613A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0B5E3-7AFD-18EF-2251-C86FC4A0C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95256-A89A-9EA1-3449-6FF3D9412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1ACE0-7B8B-9254-0815-EC692BA23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66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428D-AE5F-72EC-D0D3-F74EC24B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A9283-9DE1-34CE-C836-0BE83BB6B7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91A37-04DB-5AE0-44DD-A80133F3B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070CB-CFB1-6631-A005-9FCCD3797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CECE4-E777-06C8-E273-2BBF557F9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63DA7-754A-AC07-2B5A-FD343E82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4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C3584-4499-3FA8-C976-936250C51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1C7A5-B22D-0C85-CC8D-17E43958E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40CA6-6CCD-1BD6-A942-F88B2B5BC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DFD369-6A16-9829-DB14-EAF8C68C2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9916DE-87E6-EF36-EE6C-9D8F85369D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8BFEF-E071-9FF0-4EAD-9BEAEB4B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C092A7-7D66-E5EC-AD2A-5BE2E600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164C18-0889-1FC2-E509-34D31EFA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69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F2CFD-2BA7-9D17-B642-A912F3AC4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302DB-606F-4F01-4733-FF50A60F2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5EC96B-7BFF-81D6-B940-4BCD17E8B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9A285-189C-48EE-BD0F-53F7F2E6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25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6A5F8-6FDD-9A7E-F9EB-139BC40E1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FAD3B4-E0E9-E206-D52F-9D90ED27C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C8A0F-6B46-94CD-49F1-8BBC0767A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47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1531-3D86-EECA-F2B9-9DC446572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22975-563E-2910-B7EF-A67322BE4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E9BFA-46BC-E7F0-5F60-A8AC2C779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EA59F-7BDF-570D-4B55-C2F29DEC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7BA7D-982F-9F02-3F9D-692007D98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AA501-FAB8-DE5A-5A15-905FD2B7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13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F6EAC-C602-ECDF-9E71-DAF03EF0D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FCA83C-25FA-8DB0-C56C-CF51D5E71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F978E-DABE-87DC-6B25-BAAE13FB8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628B2-FCFD-7D42-6C57-1BF830505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2E880-FEF3-4826-F4BC-FA67BC70E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C4C9F-E5D2-F526-2C4C-BA4740A6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48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8F66-D6AF-63E4-B05E-EB7C56A02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C6127-823A-3225-B67A-85B137E60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CEC68-201E-C179-A09F-D4999AD12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7B21B-9045-88FB-8038-F130473EC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B2697-0826-C3E7-1DB0-990611780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9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C14B3A-D534-2202-22CE-92B3CDE99F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C211E-BF11-F102-8BF7-A3CFBB038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45657-CBF0-8C21-244C-DA3B0CD47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859A4-368A-459A-B987-51EB491CB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8C163-74DC-E54A-614D-4ECE117C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15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1CF256-BADC-9079-C000-C0236D046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D800A-2DFD-DA7A-752D-05E286952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050CB-351F-FE00-7A89-70EC558B4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82869-EC4F-814B-E097-D060E789F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9C26E-8483-E7CE-F651-1BE0BF9BE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4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1194619"/>
            <a:ext cx="9144000" cy="124869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fontScale="90000"/>
          </a:bodyPr>
          <a:lstStyle/>
          <a:p>
            <a:pPr algn="ctr"/>
            <a:r>
              <a:rPr b="1" dirty="0">
                <a:latin typeface="Garamond" panose="02020404030301010803" pitchFamily="18" charset="0"/>
              </a:rPr>
              <a:t>Drug, Side Effects &amp; Medical Condition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7921" y="3380364"/>
            <a:ext cx="7688156" cy="572204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sz="2800" dirty="0">
                <a:latin typeface="Garamond" panose="02020404030301010803" pitchFamily="18" charset="0"/>
              </a:rPr>
              <a:t>Data Analysis Project | Python &amp; Visualization Tools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4956FA7-D620-9C0A-B0DA-04295536A97C}"/>
              </a:ext>
            </a:extLst>
          </p:cNvPr>
          <p:cNvSpPr txBox="1">
            <a:spLocks/>
          </p:cNvSpPr>
          <p:nvPr/>
        </p:nvSpPr>
        <p:spPr>
          <a:xfrm>
            <a:off x="727921" y="4317412"/>
            <a:ext cx="7688156" cy="73636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Garamond" panose="02020404030301010803" pitchFamily="18" charset="0"/>
              </a:rPr>
              <a:t>Presented By</a:t>
            </a:r>
          </a:p>
          <a:p>
            <a:r>
              <a:rPr lang="en-US" sz="2400" dirty="0">
                <a:latin typeface="Garamond" panose="02020404030301010803" pitchFamily="18" charset="0"/>
              </a:rPr>
              <a:t>Gowri Priya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76" y="778081"/>
            <a:ext cx="7886700" cy="667261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b="1" dirty="0">
                <a:latin typeface="Garamond" panose="02020404030301010803" pitchFamily="18" charset="0"/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476" y="1825625"/>
            <a:ext cx="7886700" cy="240224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endParaRPr dirty="0"/>
          </a:p>
          <a:p>
            <a:r>
              <a:rPr dirty="0"/>
              <a:t>Analyze drug-related data to extract insights on:</a:t>
            </a:r>
          </a:p>
          <a:p>
            <a:r>
              <a:rPr dirty="0"/>
              <a:t>Ratings and Reviews</a:t>
            </a:r>
            <a:endParaRPr lang="en-IN" dirty="0"/>
          </a:p>
          <a:p>
            <a:r>
              <a:rPr dirty="0"/>
              <a:t>Side Effects</a:t>
            </a:r>
          </a:p>
          <a:p>
            <a:r>
              <a:rPr dirty="0"/>
              <a:t>Associated Medical Conditions</a:t>
            </a:r>
          </a:p>
          <a:p>
            <a:r>
              <a:rPr dirty="0"/>
              <a:t>Alcohol and Pregnancy Warnings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81435"/>
            <a:ext cx="7886700" cy="64759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b="1" dirty="0">
                <a:latin typeface="Garamond" panose="02020404030301010803" pitchFamily="18" charset="0"/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22271"/>
            <a:ext cx="7886700" cy="171398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dirty="0"/>
              <a:t>Python (pandas, matplotlib, seaborn)</a:t>
            </a:r>
          </a:p>
          <a:p>
            <a:r>
              <a:rPr dirty="0" err="1"/>
              <a:t>Jupyter</a:t>
            </a:r>
            <a:r>
              <a:rPr dirty="0"/>
              <a:t> Notebook</a:t>
            </a:r>
          </a:p>
          <a:p>
            <a:r>
              <a:rPr dirty="0"/>
              <a:t>CSV Data Format</a:t>
            </a:r>
          </a:p>
          <a:p>
            <a:r>
              <a:rPr dirty="0"/>
              <a:t>Data Visualization Techniques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8145"/>
            <a:ext cx="7886700" cy="726255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IN" b="1" dirty="0">
                <a:latin typeface="Garamond" panose="02020404030301010803" pitchFamily="18" charset="0"/>
              </a:rPr>
              <a:t>Drug Ratings Distribution</a:t>
            </a:r>
            <a:endParaRPr b="1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075046"/>
            <a:ext cx="7886701" cy="81274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r>
              <a:rPr lang="en-US" dirty="0"/>
              <a:t>Most drugs are rated between 7–10.</a:t>
            </a:r>
          </a:p>
          <a:p>
            <a:r>
              <a:rPr lang="en-US" dirty="0"/>
              <a:t>Indicates high user satisfaction.</a:t>
            </a:r>
          </a:p>
        </p:txBody>
      </p:sp>
      <p:pic>
        <p:nvPicPr>
          <p:cNvPr id="4" name="Content Placeholder 3" descr="rating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7794"/>
            <a:ext cx="9144000" cy="49702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1727"/>
            <a:ext cx="7886700" cy="448354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fontScale="90000"/>
          </a:bodyPr>
          <a:lstStyle/>
          <a:p>
            <a:r>
              <a:rPr lang="en-IN" b="1" dirty="0"/>
              <a:t>Top 10 Highest-Rated Drugs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97565"/>
            <a:ext cx="7886700" cy="754254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lnSpcReduction="10000"/>
          </a:bodyPr>
          <a:lstStyle/>
          <a:p>
            <a:r>
              <a:rPr lang="en-US" dirty="0"/>
              <a:t>Top-rated drugs have ratings above 9.</a:t>
            </a:r>
          </a:p>
          <a:p>
            <a:r>
              <a:rPr lang="en-US" dirty="0"/>
              <a:t>Most are backed by many user reviews.</a:t>
            </a:r>
          </a:p>
        </p:txBody>
      </p:sp>
      <p:pic>
        <p:nvPicPr>
          <p:cNvPr id="5" name="Picture 4" descr="top_rated_dru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9303"/>
            <a:ext cx="9143999" cy="5058698"/>
          </a:xfrm>
          <a:prstGeom prst="rect">
            <a:avLst/>
          </a:prstGeom>
          <a:effectLst>
            <a:softEdge rad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63717"/>
            <a:ext cx="7886700" cy="70659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IN" b="1" dirty="0">
                <a:latin typeface="Garamond" panose="02020404030301010803" pitchFamily="18" charset="0"/>
              </a:rPr>
              <a:t>Most Common Medical Conditions</a:t>
            </a:r>
            <a:endParaRPr b="1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10760"/>
            <a:ext cx="7886700" cy="200895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dirty="0"/>
              <a:t>Drugs most often treat:</a:t>
            </a:r>
          </a:p>
          <a:p>
            <a:pPr marL="0" indent="0">
              <a:buNone/>
            </a:pPr>
            <a:r>
              <a:rPr lang="en-US" dirty="0"/>
              <a:t>	- Depression</a:t>
            </a:r>
          </a:p>
          <a:p>
            <a:pPr marL="0" indent="0">
              <a:buNone/>
            </a:pPr>
            <a:r>
              <a:rPr lang="en-US" dirty="0"/>
              <a:t>	- Anxiety</a:t>
            </a:r>
          </a:p>
          <a:p>
            <a:pPr marL="0" indent="0">
              <a:buNone/>
            </a:pPr>
            <a:r>
              <a:rPr lang="en-US" dirty="0"/>
              <a:t>	- Pain</a:t>
            </a:r>
          </a:p>
          <a:p>
            <a:pPr marL="0" indent="0">
              <a:buNone/>
            </a:pPr>
            <a:r>
              <a:rPr lang="en-US" dirty="0"/>
              <a:t>	- Diabetes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3A200-753E-00F7-8069-AA917901C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B4DAF17-E22C-EEF7-E19C-5BAB6D49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3" descr="common_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A15B9-7F6C-E8CC-A276-A87B5816D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1242"/>
            <a:ext cx="7886700" cy="47061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fontScale="90000"/>
          </a:bodyPr>
          <a:lstStyle/>
          <a:p>
            <a:r>
              <a:rPr lang="en-IN" b="1" dirty="0">
                <a:latin typeface="Garamond" panose="02020404030301010803" pitchFamily="18" charset="0"/>
              </a:rPr>
              <a:t>Pregnancy Safety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79A31-25C1-44A6-40B3-136358A15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03071"/>
            <a:ext cx="7886700" cy="72093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lnSpcReduction="10000"/>
          </a:bodyPr>
          <a:lstStyle/>
          <a:p>
            <a:r>
              <a:rPr lang="en-US" dirty="0"/>
              <a:t>Most drugs fall under Category C (risk not ruled out).</a:t>
            </a:r>
          </a:p>
          <a:p>
            <a:r>
              <a:rPr lang="en-US" dirty="0"/>
              <a:t>Very few are Category A (safe).</a:t>
            </a:r>
          </a:p>
          <a:p>
            <a:endParaRPr lang="en-IN" dirty="0"/>
          </a:p>
        </p:txBody>
      </p:sp>
      <p:pic>
        <p:nvPicPr>
          <p:cNvPr id="4" name="Picture 3" descr="pregnancy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1987"/>
            <a:ext cx="9144000" cy="521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29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00113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fontScale="90000"/>
          </a:bodyPr>
          <a:lstStyle/>
          <a:p>
            <a:r>
              <a:rPr lang="en-US" b="1" dirty="0">
                <a:latin typeface="Garamond" panose="02020404030301010803" pitchFamily="18" charset="0"/>
              </a:rPr>
              <a:t>Ratings vs Number of Reviews</a:t>
            </a:r>
            <a:endParaRPr b="1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09547"/>
            <a:ext cx="7886700" cy="40629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dirty="0"/>
              <a:t>Drugs with more reviews tend to have more reliable average ratings.</a:t>
            </a:r>
          </a:p>
        </p:txBody>
      </p:sp>
      <p:pic>
        <p:nvPicPr>
          <p:cNvPr id="5" name="Picture 4" descr="ratings_vs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0153"/>
            <a:ext cx="9144000" cy="52978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7ACD9-2D0D-37CA-B1F7-3600B0E9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1940"/>
            <a:ext cx="7886700" cy="549274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b="1" dirty="0">
                <a:latin typeface="Garamond" panose="02020404030301010803" pitchFamily="18" charset="0"/>
              </a:rPr>
              <a:t>Insights</a:t>
            </a:r>
            <a:endParaRPr lang="en-IN" b="1" dirty="0">
              <a:latin typeface="Garamond" panose="02020404030301010803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F09C44-6840-3DF9-88F8-B421D0F937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633061"/>
            <a:ext cx="7886700" cy="2534027"/>
          </a:xfrm>
          <a:prstGeom prst="rect">
            <a:avLst/>
          </a:prstGeom>
          <a:gradFill>
            <a:gsLst>
              <a:gs pos="51055">
                <a:srgbClr val="EAEFF8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top-rated drugs have scores above 9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Depression, anxiety, diabetes, and pain dominate conditions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side effects: nausea, headache, dizziness, fatigue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Alcohol warnings are common but don’t affect ratings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C is the most used in pregnancy classifications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reviews = more trust in rating</a:t>
            </a:r>
          </a:p>
        </p:txBody>
      </p:sp>
    </p:spTree>
    <p:extLst>
      <p:ext uri="{BB962C8B-B14F-4D97-AF65-F5344CB8AC3E}">
        <p14:creationId xmlns:p14="http://schemas.microsoft.com/office/powerpoint/2010/main" val="801436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4894"/>
            <a:ext cx="7886700" cy="509945"/>
          </a:xfrm>
          <a:gradFill>
            <a:gsLst>
              <a:gs pos="51055">
                <a:srgbClr val="EAEFF8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fontScale="90000"/>
          </a:bodyPr>
          <a:lstStyle/>
          <a:p>
            <a:r>
              <a:rPr b="1" dirty="0">
                <a:latin typeface="Garamond" panose="02020404030301010803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10761"/>
            <a:ext cx="7886700" cy="1318239"/>
          </a:xfrm>
          <a:gradFill>
            <a:gsLst>
              <a:gs pos="51055">
                <a:srgbClr val="EAEFF8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dirty="0"/>
              <a:t>Extracted valuable insights on drug safety and effectiveness</a:t>
            </a:r>
          </a:p>
          <a:p>
            <a:r>
              <a:rPr lang="en-US" dirty="0"/>
              <a:t>Identified patterns in medical conditions and side effects</a:t>
            </a:r>
          </a:p>
          <a:p>
            <a:r>
              <a:rPr lang="en-US" dirty="0"/>
              <a:t>Supports data-driven decisions in pharmaceutical studies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gradFill>
            <a:gsLst>
              <a:gs pos="51055">
                <a:srgbClr val="EAEFF8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IN" sz="7200" b="1" dirty="0">
                <a:latin typeface="Garamond" panose="02020404030301010803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1486</TotalTime>
  <Words>235</Words>
  <Application>Microsoft Office PowerPoint</Application>
  <PresentationFormat>On-screen Show (4:3)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Garamond</vt:lpstr>
      <vt:lpstr>Office Theme</vt:lpstr>
      <vt:lpstr>Drug, Side Effects &amp; Medical Condition Analysis</vt:lpstr>
      <vt:lpstr>Project Objective</vt:lpstr>
      <vt:lpstr>Tools &amp; Technologies</vt:lpstr>
      <vt:lpstr>Drug Ratings Distribution</vt:lpstr>
      <vt:lpstr>Top 10 Highest-Rated Drugs</vt:lpstr>
      <vt:lpstr>Most Common Medical Conditions</vt:lpstr>
      <vt:lpstr>PowerPoint Presentation</vt:lpstr>
      <vt:lpstr>Pregnancy Safety Categories</vt:lpstr>
      <vt:lpstr>Ratings vs Number of Reviews</vt:lpstr>
      <vt:lpstr>Insights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Gowri Priya M</cp:lastModifiedBy>
  <cp:revision>4</cp:revision>
  <dcterms:created xsi:type="dcterms:W3CDTF">2013-01-27T09:14:16Z</dcterms:created>
  <dcterms:modified xsi:type="dcterms:W3CDTF">2025-07-14T17:26:38Z</dcterms:modified>
  <cp:category/>
</cp:coreProperties>
</file>